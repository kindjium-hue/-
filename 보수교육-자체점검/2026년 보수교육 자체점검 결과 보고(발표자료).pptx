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2026년 1학기 보수교육 운영 후 실시한 자체점검 결과를 4개 영역으로 나누어 보고드립니다.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점검 대상과 방법을 먼저 말씀드리고, 오른쪽 네 영역 순서대로 결과를 보고합니다.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왼쪽은 유지·강화할 강점, 오른쪽은 2학기에 실행할 개선과제입니다. 이수 인원과 만족도 수치는 실제 값으로 채워 발표하세요.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강점은 여섯 가지로 정리했습니다. 특히 현장 적용성과 강사 전문성이 만족도에서 높게 평가되었습니다.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강의실 환경은 만족도가 높은 편이지만, 실습형 수업이 늘면서 공간이 부족해졌습니다.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조사는 하고 있으나 반영 근거가 남지 않는 점, 교육이 끝난 뒤 지원이 끊기는 점이 핵심 과제입니다.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교육과정은 개선 계획을 세 갈래로 나눴습니다. 개정 내용 반영, 놀이 중심 수업 설계, 아동권리와 다양성 교육입니다.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행정 안내에 대한 평가는 좋습니다. 의견이 반영된 결과를 남기고 알리는 절차를 갖추는 것이 과제입니다.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점검이 한 번으로 끝나지 않도록 개선계획 수립부터 학기말 재점검까지 순환 구조로 운영하겠습니다.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마무리 메시지입니다. 강점은 유지하고, 도출된 과제는 2학기에 실행하며, 점검이 순환되도록 하겠습니다.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206240" cy="42062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4480560"/>
            <a:ext cx="2377440" cy="2377440"/>
          </a:xfrm>
          <a:prstGeom prst="ellipse">
            <a:avLst/>
          </a:prstGeom>
          <a:solidFill>
            <a:srgbClr val="25543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8745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7BC6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 1학기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377440"/>
            <a:ext cx="8595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보육교직원 보수교육기관</a:t>
            </a:r>
            <a:endParaRPr lang="en-US" sz="40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자율관리(자체점검) 결과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4434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7BC6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가천대학교부설평생교육원(메디컬)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892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C9B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기본환경 · 교육운영 · 교육과정 · 기관운영 4개 영역 종합평가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585216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D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점검 개요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78308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점검 대상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874520" y="178308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F2B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 1학기 보육교직원 보수교육 전 과정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283464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점검 방법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874520" y="283464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F2B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영역별 지표 자체점검 · 학습자 만족도 조사 · 강사 자체평가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388620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활용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874520" y="388620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F2B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영역별 개선과제 도출 → 개선계획 수립 → 다음 학기 반영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164592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F4F6F1"/>
          </a:solidFill>
          <a:ln w="12700">
            <a:solidFill>
              <a:srgbClr val="DCE3D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47104" y="1993392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47104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132320" y="199339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D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기본환경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565392" y="272491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시설 · 설비 · 학습 공간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098280" y="164592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F4F6F1"/>
          </a:solidFill>
          <a:ln w="12700">
            <a:solidFill>
              <a:srgbClr val="DCE3D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336024" y="1993392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336024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9921240" y="199339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D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교육운영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9354312" y="272491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요구도 · 학사 · 만족도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09360" y="356616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F4F6F1"/>
          </a:solidFill>
          <a:ln w="12700">
            <a:solidFill>
              <a:srgbClr val="DCE3D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47104" y="3913632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47104" y="3913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132320" y="391363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D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교육과정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565392" y="464515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교육내용 · 강사 · 교재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098280" y="356616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F4F6F1"/>
          </a:solidFill>
          <a:ln w="12700">
            <a:solidFill>
              <a:srgbClr val="DCE3D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336024" y="3913632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336024" y="3913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9921240" y="391363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D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기관운영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9354312" y="464515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행정 · 기록 · 환류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566928" y="57607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점검 결과 4개 영역 모두 지표 충족도가 높게 나타났으며, 영역마다 보완할 과제를 함께 도출했습니다.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585216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D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한눈에 보기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4813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강점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1965960"/>
            <a:ext cx="5120640" cy="804672"/>
          </a:xfrm>
          <a:prstGeom prst="roundRect">
            <a:avLst>
              <a:gd name="adj" fmla="val 6818"/>
            </a:avLst>
          </a:prstGeom>
          <a:solidFill>
            <a:srgbClr val="F4F6F1"/>
          </a:solidFill>
          <a:ln w="12700">
            <a:solidFill>
              <a:srgbClr val="DCE3D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2093976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D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적용성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2743200" y="2093976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사례·시나리오 기반 수업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66928" y="2953512"/>
            <a:ext cx="5120640" cy="804672"/>
          </a:xfrm>
          <a:prstGeom prst="roundRect">
            <a:avLst>
              <a:gd name="adj" fmla="val 6818"/>
            </a:avLst>
          </a:prstGeom>
          <a:solidFill>
            <a:srgbClr val="F4F6F1"/>
          </a:solidFill>
          <a:ln w="12700">
            <a:solidFill>
              <a:srgbClr val="DCE3D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41248" y="308152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D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강사 전문성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743200" y="308152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현직 경험을 갖춘 강사진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" y="3941064"/>
            <a:ext cx="5120640" cy="804672"/>
          </a:xfrm>
          <a:prstGeom prst="roundRect">
            <a:avLst>
              <a:gd name="adj" fmla="val 6818"/>
            </a:avLst>
          </a:prstGeom>
          <a:solidFill>
            <a:srgbClr val="F4F6F1"/>
          </a:solidFill>
          <a:ln w="12700">
            <a:solidFill>
              <a:srgbClr val="DCE3D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1248" y="40690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D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개정 반영 속도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743200" y="40690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변경 내용 즉시 교안 반영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66928" y="4928616"/>
            <a:ext cx="5120640" cy="804672"/>
          </a:xfrm>
          <a:prstGeom prst="roundRect">
            <a:avLst>
              <a:gd name="adj" fmla="val 6818"/>
            </a:avLst>
          </a:prstGeom>
          <a:solidFill>
            <a:srgbClr val="F4F6F1"/>
          </a:solidFill>
          <a:ln w="12700">
            <a:solidFill>
              <a:srgbClr val="DCE3D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1248" y="505663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D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행정 지원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2743200" y="505663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전담 인력의 신속·친절한 안내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446520" y="14813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970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개선과제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46520" y="1965960"/>
            <a:ext cx="5193792" cy="804672"/>
          </a:xfrm>
          <a:prstGeom prst="roundRect">
            <a:avLst>
              <a:gd name="adj" fmla="val 6818"/>
            </a:avLst>
          </a:prstGeom>
          <a:solidFill>
            <a:srgbClr val="FDF6EA"/>
          </a:solidFill>
          <a:ln w="12700">
            <a:solidFill>
              <a:srgbClr val="F0E0C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720840" y="2093976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970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1영역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589520" y="2093976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B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협력형 학습 공간으로 강의실 재구성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46520" y="2953512"/>
            <a:ext cx="5193792" cy="804672"/>
          </a:xfrm>
          <a:prstGeom prst="roundRect">
            <a:avLst>
              <a:gd name="adj" fmla="val 6818"/>
            </a:avLst>
          </a:prstGeom>
          <a:solidFill>
            <a:srgbClr val="FDF6EA"/>
          </a:solidFill>
          <a:ln w="12700">
            <a:solidFill>
              <a:srgbClr val="F0E0C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720840" y="3081528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970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2영역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589520" y="308152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B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요구도 반영 절차 문서화 · 이수 후 코칭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46520" y="3941064"/>
            <a:ext cx="5193792" cy="804672"/>
          </a:xfrm>
          <a:prstGeom prst="roundRect">
            <a:avLst>
              <a:gd name="adj" fmla="val 6818"/>
            </a:avLst>
          </a:prstGeom>
          <a:solidFill>
            <a:srgbClr val="FDF6EA"/>
          </a:solidFill>
          <a:ln w="12700">
            <a:solidFill>
              <a:srgbClr val="F0E0C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720840" y="406908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970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3영역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7589520" y="40690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B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놀이 중심 · 아동권리 모듈 강화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46520" y="4928616"/>
            <a:ext cx="5193792" cy="804672"/>
          </a:xfrm>
          <a:prstGeom prst="roundRect">
            <a:avLst>
              <a:gd name="adj" fmla="val 6818"/>
            </a:avLst>
          </a:prstGeom>
          <a:solidFill>
            <a:srgbClr val="FDF6EA"/>
          </a:solidFill>
          <a:ln w="12700">
            <a:solidFill>
              <a:srgbClr val="F0E0C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720840" y="5056632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970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4영역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7589520" y="505663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B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상시 의견 수렴 · 환류 체계 구축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566928" y="6080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1학기 이수 인원 ○○명 · 만족도 평균 ○○점   (발표 전 실제 수치로 채워 주세요)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585216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D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강점 및 우수한 점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700784"/>
            <a:ext cx="310896" cy="310896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17007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24128" y="164592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D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적용 중심 교육과정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024128" y="2084832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67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보육실 상황을 재구성한 사례·시나리오 수업, 수업 말미에 현장 적용 계획 작성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90488" y="1700784"/>
            <a:ext cx="310896" cy="310896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190488" y="17007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647688" y="164592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D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강사진의 현장 전문성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647688" y="2084832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67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어린이집 운영·보육 실무 경력을 갖춘 강사가 사례와 해결 과정을 함께 제시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66928" y="3182112"/>
            <a:ext cx="310896" cy="310896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66928" y="31821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024128" y="3127248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D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개정 사항의 신속한 반영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024128" y="356616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67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표준보육과정·보육사업안내 개정 내용을 교안에 즉시 반영해 중점 지도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190488" y="3182112"/>
            <a:ext cx="310896" cy="310896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190488" y="31821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647688" y="3127248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D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중심의 실용성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647688" y="356616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67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현장에서 마주할 상황을 다루는 문제해결 실습으로 참여도 높음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66928" y="4663440"/>
            <a:ext cx="310896" cy="310896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66928" y="46634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024128" y="4608576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D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학습자 중심 교육환경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024128" y="5047488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67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최신 기자재를 갖춘 강의실, 넓은 무료 주차장으로 원거리 학습자 편의 확보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190488" y="4663440"/>
            <a:ext cx="310896" cy="310896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190488" y="46634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647688" y="4608576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D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점검·환류 체계 상시 운영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6647688" y="5047488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67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과정 종료마다 만족도 조사와 강사 자체평가를 실시해 다음 과정에 반영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48640"/>
            <a:ext cx="603504" cy="603504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54864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585216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D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1영역. 기본환경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645920"/>
            <a:ext cx="5120640" cy="2880360"/>
          </a:xfrm>
          <a:prstGeom prst="roundRect">
            <a:avLst>
              <a:gd name="adj" fmla="val 2540"/>
            </a:avLst>
          </a:prstGeom>
          <a:solidFill>
            <a:srgbClr val="F6F6F4"/>
          </a:solidFill>
          <a:ln w="12700">
            <a:solidFill>
              <a:srgbClr val="E2E4D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847088"/>
            <a:ext cx="4608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970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점검에서 확인된 미흡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267712"/>
            <a:ext cx="4608576" cy="2039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F2B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모둠 토론·실습형 수업을 함께 운영하기에는 강의실이 협소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F2B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수강 인원이 몰리는 시간대에는 실습 기자재와 좌석에 여유 부족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46520" y="1645920"/>
            <a:ext cx="5193792" cy="2880360"/>
          </a:xfrm>
          <a:prstGeom prst="roundRect">
            <a:avLst>
              <a:gd name="adj" fmla="val 2540"/>
            </a:avLst>
          </a:prstGeom>
          <a:solidFill>
            <a:srgbClr val="F4F6F1"/>
          </a:solidFill>
          <a:ln w="12700">
            <a:solidFill>
              <a:srgbClr val="DCE3D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702552" y="1847088"/>
            <a:ext cx="4681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개선 계획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702552" y="2267712"/>
            <a:ext cx="4681728" cy="2039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B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모둠 토론·개별 학습·휴식이 구분되는 협력형 학습 공간으로 재구성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B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실습형 과목은 넓은 강의실에 우선 배정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B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기자재 학기별 점검·확충, 소방·안전·위생 정기 점검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B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무료 주차장 안내 표지 보강으로 이용 편의 향상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66928" y="4892040"/>
            <a:ext cx="11073384" cy="1005840"/>
          </a:xfrm>
          <a:prstGeom prst="roundRect">
            <a:avLst>
              <a:gd name="adj" fmla="val 7273"/>
            </a:avLst>
          </a:prstGeom>
          <a:solidFill>
            <a:srgbClr val="1E3D2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14400" y="513892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7BC6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기대 효과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2286000" y="5138928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실습·토의형 수업을 안정적으로 운영할 수 있는 학습 공간을 확보합니다.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144000" y="5212080"/>
            <a:ext cx="2148840" cy="384048"/>
          </a:xfrm>
          <a:prstGeom prst="roundRect">
            <a:avLst>
              <a:gd name="adj" fmla="val 23810"/>
            </a:avLst>
          </a:prstGeom>
          <a:solidFill>
            <a:srgbClr val="2C5F2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144000" y="521208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 2학기 중 추진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48640"/>
            <a:ext cx="603504" cy="603504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54864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585216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D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2영역. 교육운영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645920"/>
            <a:ext cx="5120640" cy="2880360"/>
          </a:xfrm>
          <a:prstGeom prst="roundRect">
            <a:avLst>
              <a:gd name="adj" fmla="val 2540"/>
            </a:avLst>
          </a:prstGeom>
          <a:solidFill>
            <a:srgbClr val="F6F6F4"/>
          </a:solidFill>
          <a:ln w="12700">
            <a:solidFill>
              <a:srgbClr val="E2E4D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847088"/>
            <a:ext cx="4608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970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점검에서 확인된 미흡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267712"/>
            <a:ext cx="4608576" cy="2039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F2B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요구도 조사 결과가 과목·강사 편성에 반영되는 절차가 문서로 표준화되지 않음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F2B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이수 후 현장 적용의 어려움을 상담할 사후 지원 창구 부재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46520" y="1645920"/>
            <a:ext cx="5193792" cy="2880360"/>
          </a:xfrm>
          <a:prstGeom prst="roundRect">
            <a:avLst>
              <a:gd name="adj" fmla="val 2540"/>
            </a:avLst>
          </a:prstGeom>
          <a:solidFill>
            <a:srgbClr val="F4F6F1"/>
          </a:solidFill>
          <a:ln w="12700">
            <a:solidFill>
              <a:srgbClr val="DCE3D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702552" y="1847088"/>
            <a:ext cx="4681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개선 계획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702552" y="2267712"/>
            <a:ext cx="4681728" cy="2039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B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수강신청 단계에서 요구도 조사 정례화, 반영 절차를 문서로 규정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B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이수 후 3개월간 온라인 질의응답·개별 코칭 지원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B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만족도 결과와 조치사항을 학기별 운영보고서로 정리해 강사진과 공유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B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출결·이수 관리 기준을 재정비해 모집 안내문에 명시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66928" y="4892040"/>
            <a:ext cx="11073384" cy="1005840"/>
          </a:xfrm>
          <a:prstGeom prst="roundRect">
            <a:avLst>
              <a:gd name="adj" fmla="val 7273"/>
            </a:avLst>
          </a:prstGeom>
          <a:solidFill>
            <a:srgbClr val="1E3D2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14400" y="513892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7BC6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기대 효과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2286000" y="5138928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요구가 반영된 근거가 남고, 교육 효과가 현장까지 이어집니다.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144000" y="5212080"/>
            <a:ext cx="2148840" cy="384048"/>
          </a:xfrm>
          <a:prstGeom prst="roundRect">
            <a:avLst>
              <a:gd name="adj" fmla="val 23810"/>
            </a:avLst>
          </a:prstGeom>
          <a:solidFill>
            <a:srgbClr val="2C5F2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144000" y="521208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 2학기 중 추진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48640"/>
            <a:ext cx="603504" cy="603504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54864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585216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D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3영역. 교육과정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645920"/>
            <a:ext cx="11073384" cy="1645920"/>
          </a:xfrm>
          <a:prstGeom prst="roundRect">
            <a:avLst>
              <a:gd name="adj" fmla="val 4444"/>
            </a:avLst>
          </a:prstGeom>
          <a:solidFill>
            <a:srgbClr val="F6F6F4"/>
          </a:solidFill>
          <a:ln w="12700">
            <a:solidFill>
              <a:srgbClr val="E2E4D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847088"/>
            <a:ext cx="10561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970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점검에서 확인된 미흡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267712"/>
            <a:ext cx="10561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B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개정 교육과정의 반영이 일부 과목에 집중되고, 놀이 중심·문제해결을 다루는 토의·실습형 과목 비중이 낮음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B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아동권리·아동학대 예방과 다문화·포용 교육 내용이 여러 과목에 분산되어 과목 간 연계성 부족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349300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개선 계획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66928" y="3913632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F4F6F1"/>
          </a:solidFill>
          <a:ln w="12700">
            <a:solidFill>
              <a:srgbClr val="DCE3D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4160520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335024" y="41605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D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개정 내용 전 과목 반영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4718304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67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제4차 어린이집 표준보육과정, 2019 개정 누리과정, 매년 개정되는 보육사업안내의 변경 사항을 전 과목 교안에 공통 반영하고 중점 지도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43400" y="3913632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F4F6F1"/>
          </a:solidFill>
          <a:ln w="12700">
            <a:solidFill>
              <a:srgbClr val="DCE3D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99432" y="4160520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99432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111496" y="41605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D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놀이 중심 보육 강화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599432" y="4718304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67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영유아가 스스로 놀이를 확장하도록 돕는 교사 역할을 실습으로 다루고, 열린 질문·사례 토의·실행계획 작성으로 이어지는 수업 설계 확대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19872" y="3913632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F4F6F1"/>
          </a:solidFill>
          <a:ln w="12700">
            <a:solidFill>
              <a:srgbClr val="DCE3D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75904" y="4160520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375904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8887968" y="41605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D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아동권리·다양성 심화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375904" y="4718304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67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아동권리 존중과 아동학대 예방(신고의무자 교육 포함)을 필수 모듈로 편성하고, 다문화·포용·인권 심화과정을 신설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48640"/>
            <a:ext cx="603504" cy="603504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54864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585216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D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4영역. 기관운영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645920"/>
            <a:ext cx="5120640" cy="2880360"/>
          </a:xfrm>
          <a:prstGeom prst="roundRect">
            <a:avLst>
              <a:gd name="adj" fmla="val 2540"/>
            </a:avLst>
          </a:prstGeom>
          <a:solidFill>
            <a:srgbClr val="F6F6F4"/>
          </a:solidFill>
          <a:ln w="12700">
            <a:solidFill>
              <a:srgbClr val="E2E4D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847088"/>
            <a:ext cx="4608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970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점검에서 확인된 미흡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267712"/>
            <a:ext cx="4608576" cy="2039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F2B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의견 수렴이 과정 종료 시점의 만족도 조사에 집중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F2B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수집한 의견의 검토·반영 결과를 기록하고 회신하는 절차 미비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F2B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강사진·행정 담당자의 역량 개발을 위한 정기 연수 부족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46520" y="1645920"/>
            <a:ext cx="5193792" cy="2880360"/>
          </a:xfrm>
          <a:prstGeom prst="roundRect">
            <a:avLst>
              <a:gd name="adj" fmla="val 2540"/>
            </a:avLst>
          </a:prstGeom>
          <a:solidFill>
            <a:srgbClr val="F4F6F1"/>
          </a:solidFill>
          <a:ln w="12700">
            <a:solidFill>
              <a:srgbClr val="DCE3D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702552" y="1847088"/>
            <a:ext cx="4681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개선 계획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702552" y="2267712"/>
            <a:ext cx="4681728" cy="2039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B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상시 의견 접수 → 검토·반영 → 결과 회신의 개선 체계 구축, 개선 이력 대장 관리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B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학기별 강사 워크숍과 교수법 연수 지원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B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행정 담당자 개인정보 보호·문서 관리 교육 실시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B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교육 운영 서류의 작성·보존 기준 정비로 기록 신뢰성 확보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66928" y="4892040"/>
            <a:ext cx="11073384" cy="1005840"/>
          </a:xfrm>
          <a:prstGeom prst="roundRect">
            <a:avLst>
              <a:gd name="adj" fmla="val 7273"/>
            </a:avLst>
          </a:prstGeom>
          <a:solidFill>
            <a:srgbClr val="1E3D2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14400" y="513892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7BC6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기대 효과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2286000" y="5138928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의견이 반영되는 과정이 기록으로 남아 기관 운영의 신뢰도가 높아집니다.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144000" y="5212080"/>
            <a:ext cx="2148840" cy="384048"/>
          </a:xfrm>
          <a:prstGeom prst="roundRect">
            <a:avLst>
              <a:gd name="adj" fmla="val 23810"/>
            </a:avLst>
          </a:prstGeom>
          <a:solidFill>
            <a:srgbClr val="2C5F2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144000" y="521208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 2학기 중 추진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585216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D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컨설팅 및 결과 환류 계획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645920"/>
            <a:ext cx="25146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CE3D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901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7BC6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402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D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자체점검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70048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67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4개 영역 지표 점검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67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만족도·강사 자체평가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118104" y="251460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7BC6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47288" y="1645920"/>
            <a:ext cx="25146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CE3D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03320" y="1901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7BC6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703320" y="22402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D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개선계획 수립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703320" y="2670048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67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영역별 과제에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67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담당자·추진 시기 지정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998464" y="251460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7BC6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27648" y="1645920"/>
            <a:ext cx="25146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CE3D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83680" y="1901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7BC6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0" y="22402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D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공유 · 반영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583680" y="2670048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67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강사 전체 회의 공유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67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교안·수업 설계 반영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878824" y="251460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7BC6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208008" y="1645920"/>
            <a:ext cx="2514600" cy="2011680"/>
          </a:xfrm>
          <a:prstGeom prst="roundRect">
            <a:avLst>
              <a:gd name="adj" fmla="val 3636"/>
            </a:avLst>
          </a:prstGeom>
          <a:solidFill>
            <a:srgbClr val="F4F6F1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464040" y="1901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7BC6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9464040" y="22402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D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학기말 재점검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9464040" y="2670048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67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이행 여부 확인 후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67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점검으로 연결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66928" y="4023360"/>
            <a:ext cx="5577840" cy="1828800"/>
          </a:xfrm>
          <a:prstGeom prst="roundRect">
            <a:avLst>
              <a:gd name="adj" fmla="val 4000"/>
            </a:avLst>
          </a:prstGeom>
          <a:solidFill>
            <a:srgbClr val="FDF6EA"/>
          </a:solidFill>
          <a:ln w="12700">
            <a:solidFill>
              <a:srgbClr val="F0E0C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41248" y="427939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970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컨설팅  □ 진행   ■ 미진행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841248" y="4681728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F2B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1학기에는 자체점검을 중심으로 운영해 외부 컨설팅은 진행하지 않았습니다. 도출된 개선과제에 대해 2학기 중 관계 기관에 컨설팅을 신청해 자문을 받고 개선계획에 반영하겠습니다.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46520" y="4023360"/>
            <a:ext cx="5193792" cy="1828800"/>
          </a:xfrm>
          <a:prstGeom prst="roundRect">
            <a:avLst>
              <a:gd name="adj" fmla="val 4000"/>
            </a:avLst>
          </a:prstGeom>
          <a:solidFill>
            <a:srgbClr val="F4F6F1"/>
          </a:solidFill>
          <a:ln w="12700">
            <a:solidFill>
              <a:srgbClr val="DCE3D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720840" y="427939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 활용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720840" y="4681728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B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만족도·요구도 조사 결과를 다음 학기 교육계획 수립의 기초 자료로 활용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B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보건복지부·한국보육진흥원 지침 개정 시 즉시 교육과정과 절차에 반영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3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663440"/>
            <a:ext cx="3291840" cy="3291840"/>
          </a:xfrm>
          <a:prstGeom prst="ellipse">
            <a:avLst/>
          </a:prstGeom>
          <a:solidFill>
            <a:srgbClr val="2554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2057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현장에서 바로 쓰이는 보수교육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34290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7BC6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강점은 유지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3383280" y="342900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6E2D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적용성과 강사 전문성, 신속한 개정 반영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432511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7BC6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과제는 실행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3383280" y="4325112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6E2D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4개 영역 개선과제를 2026년 2학기 중 추진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5221224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7BC6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점검은 순환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3383280" y="5221224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6E2D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학기말 재점검으로 다음 자체점검과 연결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가천대학교부설평생교육원(메디컬)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2026년 1학기 보수교육 자율관리(자체점검) 결과</dc:title>
  <dc:subject>PptxGenJS Presentation</dc:subject>
  <dc:creator>가천대학교부설평생교육원(메디컬)</dc:creator>
  <cp:lastModifiedBy>가천대학교부설평생교육원(메디컬)</cp:lastModifiedBy>
  <cp:revision>1</cp:revision>
  <dcterms:created xsi:type="dcterms:W3CDTF">2026-08-27T08:07:31Z</dcterms:created>
  <dcterms:modified xsi:type="dcterms:W3CDTF">2026-08-27T08:07:31Z</dcterms:modified>
</cp:coreProperties>
</file>